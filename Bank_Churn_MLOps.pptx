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B668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XGBoost</c:v>
                  </c:pt>
                  <c:pt idx="3">
                    <c:v>Tuned Random
Forest ★</c:v>
                  </c:pt>
                  <c:pt idx="4">
                    <c:v>Tuned
XGBoost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0.36</c:v>
                </c:pt>
                <c:pt idx="1">
                  <c:v>0.74</c:v>
                </c:pt>
                <c:pt idx="2">
                  <c:v>0.76</c:v>
                </c:pt>
                <c:pt idx="3">
                  <c:v>0.72</c:v>
                </c:pt>
                <c:pt idx="4">
                  <c:v>0.76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D4A6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B668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XGBoost</c:v>
                  </c:pt>
                  <c:pt idx="3">
                    <c:v>Tuned Random
Forest ★</c:v>
                  </c:pt>
                  <c:pt idx="4">
                    <c:v>Tuned
XGBoost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0.48</c:v>
                </c:pt>
                <c:pt idx="1">
                  <c:v>0.5</c:v>
                </c:pt>
                <c:pt idx="2">
                  <c:v>0.57</c:v>
                </c:pt>
                <c:pt idx="3">
                  <c:v>0.58</c:v>
                </c:pt>
                <c:pt idx="4">
                  <c:v>0.57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B668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XGBoost</c:v>
                  </c:pt>
                  <c:pt idx="3">
                    <c:v>Tuned Random
Forest ★</c:v>
                  </c:pt>
                  <c:pt idx="4">
                    <c:v>Tuned
XGBoost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</c:v>
                </c:pt>
                <c:pt idx="1">
                  <c:v>0.38</c:v>
                </c:pt>
                <c:pt idx="2">
                  <c:v>0.46</c:v>
                </c:pt>
                <c:pt idx="3">
                  <c:v>0.48</c:v>
                </c:pt>
                <c:pt idx="4">
                  <c:v>0.46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5B668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41B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</c:scaling>
        <c:delete val="0"/>
        <c:axPos val="l"/>
        <c:majorGridlines>
          <c:spPr>
            <a:ln w="12700" cap="flat">
              <a:solidFill>
                <a:srgbClr val="E3E7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7FB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8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ln w="15875">
            <a:solidFill>
              <a:srgbClr val="2630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1180" y="4137660"/>
            <a:ext cx="4343400" cy="4343400"/>
          </a:xfrm>
          <a:prstGeom prst="ellipse">
            <a:avLst/>
          </a:prstGeom>
          <a:ln w="15875">
            <a:solidFill>
              <a:srgbClr val="263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3611880"/>
            <a:ext cx="5394960" cy="5394960"/>
          </a:xfrm>
          <a:prstGeom prst="ellipse">
            <a:avLst/>
          </a:prstGeom>
          <a:ln w="15875">
            <a:solidFill>
              <a:srgbClr val="263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9620" y="3086100"/>
            <a:ext cx="6446520" cy="6446520"/>
          </a:xfrm>
          <a:prstGeom prst="ellipse">
            <a:avLst/>
          </a:prstGeom>
          <a:ln w="15875">
            <a:solidFill>
              <a:srgbClr val="D4A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BANK-CHURN-MLOPS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233172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Customer Churn Prediction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End-to-End, Explainable ML System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who will churn  •  Explains why with SHAP  •  Serves it through a live REST 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Aarushi Singh   •   Live Demo &amp; API Docs available   •   github.com/aarushixsingh/bank-churn-MLOPS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employee enters a customer’s details into the web app. The system instantly does four things: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487168" cy="30175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72184" y="24688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72184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713232" y="32918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9808" y="3703320"/>
            <a:ext cx="20848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customer will churn or stay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55264" y="2148840"/>
            <a:ext cx="2487168" cy="30175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78808" y="24688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880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3419856" y="32918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Risk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56432" y="3703320"/>
            <a:ext cx="20848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probability and risk level — Low / Medium / High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61888" y="2148840"/>
            <a:ext cx="2487168" cy="30175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85432" y="24688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85432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6126480" y="32918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63056" y="3703320"/>
            <a:ext cx="20848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English, which factors drove the prediction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68512" y="2148840"/>
            <a:ext cx="2487168" cy="30175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92056" y="24688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9205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8833104" y="32918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869680" y="3703320"/>
            <a:ext cx="20848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color-coded feature impact chart, powered by SHAP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41932"/>
            <a:ext cx="493776" cy="493776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419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4" dirty="0"/>
          </a:p>
        </p:txBody>
      </p:sp>
      <p:sp>
        <p:nvSpPr>
          <p:cNvPr id="7" name="Text 5"/>
          <p:cNvSpPr/>
          <p:nvPr/>
        </p:nvSpPr>
        <p:spPr>
          <a:xfrm>
            <a:off x="1444752" y="171907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44752" y="20116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XGBoost · Random Forest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8096" y="2683764"/>
            <a:ext cx="493776" cy="493776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376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4" dirty="0"/>
          </a:p>
        </p:txBody>
      </p:sp>
      <p:sp>
        <p:nvSpPr>
          <p:cNvPr id="12" name="Text 10"/>
          <p:cNvSpPr/>
          <p:nvPr/>
        </p:nvSpPr>
        <p:spPr>
          <a:xfrm>
            <a:off x="1444752" y="266090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44752" y="29535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3625596"/>
            <a:ext cx="493776" cy="493776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62559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4" dirty="0"/>
          </a:p>
        </p:txBody>
      </p:sp>
      <p:sp>
        <p:nvSpPr>
          <p:cNvPr id="17" name="Text 15"/>
          <p:cNvSpPr/>
          <p:nvPr/>
        </p:nvSpPr>
        <p:spPr>
          <a:xfrm>
            <a:off x="1444752" y="360273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44752" y="389534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25696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67428"/>
            <a:ext cx="493776" cy="493776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6742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4" dirty="0"/>
          </a:p>
        </p:txBody>
      </p:sp>
      <p:sp>
        <p:nvSpPr>
          <p:cNvPr id="22" name="Text 20"/>
          <p:cNvSpPr/>
          <p:nvPr/>
        </p:nvSpPr>
        <p:spPr>
          <a:xfrm>
            <a:off x="1444752" y="454456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Backend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44752" y="483717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16002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91656" y="1741932"/>
            <a:ext cx="493776" cy="493776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17419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4" dirty="0"/>
          </a:p>
        </p:txBody>
      </p:sp>
      <p:sp>
        <p:nvSpPr>
          <p:cNvPr id="27" name="Text 25"/>
          <p:cNvSpPr/>
          <p:nvPr/>
        </p:nvSpPr>
        <p:spPr>
          <a:xfrm>
            <a:off x="7068312" y="171907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068312" y="20116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2542032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91656" y="2683764"/>
            <a:ext cx="493776" cy="493776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91656" y="268376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4" dirty="0"/>
          </a:p>
        </p:txBody>
      </p:sp>
      <p:sp>
        <p:nvSpPr>
          <p:cNvPr id="32" name="Text 30"/>
          <p:cNvSpPr/>
          <p:nvPr/>
        </p:nvSpPr>
        <p:spPr>
          <a:xfrm>
            <a:off x="7068312" y="266090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Persistence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068312" y="29535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3483864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91656" y="3625596"/>
            <a:ext cx="493776" cy="493776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362559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4" dirty="0"/>
          </a:p>
        </p:txBody>
      </p:sp>
      <p:sp>
        <p:nvSpPr>
          <p:cNvPr id="37" name="Text 35"/>
          <p:cNvSpPr/>
          <p:nvPr/>
        </p:nvSpPr>
        <p:spPr>
          <a:xfrm>
            <a:off x="7068312" y="360273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Deployment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068312" y="389534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72200" y="4425696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91656" y="4567428"/>
            <a:ext cx="493776" cy="493776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91656" y="456742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4" dirty="0"/>
          </a:p>
        </p:txBody>
      </p:sp>
      <p:sp>
        <p:nvSpPr>
          <p:cNvPr id="42" name="Text 40"/>
          <p:cNvSpPr/>
          <p:nvPr/>
        </p:nvSpPr>
        <p:spPr>
          <a:xfrm>
            <a:off x="7068312" y="454456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Deployment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068312" y="483717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 Dataset — Kaggle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2C3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6712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9659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2C3A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216712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16052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19659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2C3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16712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77240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churn / stayed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Balance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8297631" cy="502920"/>
          </a:xfrm>
          <a:prstGeom prst="rect">
            <a:avLst/>
          </a:prstGeom>
          <a:solidFill>
            <a:srgbClr val="3FA66B"/>
          </a:solidFill>
          <a:ln/>
        </p:spPr>
      </p:sp>
      <p:sp>
        <p:nvSpPr>
          <p:cNvPr id="16" name="Shape 14"/>
          <p:cNvSpPr/>
          <p:nvPr/>
        </p:nvSpPr>
        <p:spPr>
          <a:xfrm>
            <a:off x="8846271" y="4572000"/>
            <a:ext cx="2126529" cy="502920"/>
          </a:xfrm>
          <a:prstGeom prst="rect">
            <a:avLst/>
          </a:prstGeom>
          <a:solidFill>
            <a:srgbClr val="C24B4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572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— 79.6%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37711" y="4572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— 20.4%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realistic, imbalanced problem — exactly what makes churn prediction hard, and why the model choices ahead matter.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Revealed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40–50 = higher churn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 across age, balance, credit score, and tenure — this band stood out clearly against churn.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33672" y="17373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057400"/>
            <a:ext cx="594360" cy="594360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90" dirty="0"/>
          </a:p>
        </p:txBody>
      </p:sp>
      <p:sp>
        <p:nvSpPr>
          <p:cNvPr id="12" name="Text 10"/>
          <p:cNvSpPr/>
          <p:nvPr/>
        </p:nvSpPr>
        <p:spPr>
          <a:xfrm>
            <a:off x="4507992" y="28346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Inactive members leave more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7992" y="361188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showed a significantly higher churn rate than active engagement with the bank.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18704" y="17373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38744" y="2057400"/>
            <a:ext cx="594360" cy="594360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90" dirty="0"/>
          </a:p>
        </p:txBody>
      </p:sp>
      <p:sp>
        <p:nvSpPr>
          <p:cNvPr id="17" name="Text 15"/>
          <p:cNvSpPr/>
          <p:nvPr/>
        </p:nvSpPr>
        <p:spPr>
          <a:xfrm>
            <a:off x="8193024" y="28346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balances → higher churn risk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93024" y="361188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more money have more incentive — and more options — to switch banks.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RESPONSIBLE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Feature Selection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features were deliberately left out of the model — on purpose, not by oversight.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C24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1460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081528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C24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815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gender or geography in financial predictions can drive discriminatory outcomes — and is illegal in many jurisdictions.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74920" y="1874520"/>
            <a:ext cx="57607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9050">
            <a:solidFill>
              <a:srgbClr val="3FA6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F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DECISIONS ARE BASED 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2514600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EAF6EF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25146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514600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EAF6E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25146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49240" y="3063240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EAF6EF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30632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063240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EAF6EF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30632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9240" y="3611880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EAF6EF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361188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Held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611880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EAF6EF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361188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Status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49240" y="4160520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EAF6EF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41605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Salary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4160520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EAF6EF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0" y="41605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Ownership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5029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behavioural and financial signals — fair, defensible, and predictive.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CLASS IMBALANCE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The 80 / 20 Split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5875">
            <a:solidFill>
              <a:srgbClr val="E3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  REJECTED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Oversampling introduces synthetic, artificial data — it adds noise and doesn’t guarantee those points reflect real customers.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669280" cy="384048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CHOSEN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0" y="29260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the model harder for missing an actual churner, using the real data as-is.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3657600"/>
            <a:ext cx="5120640" cy="594360"/>
          </a:xfrm>
          <a:prstGeom prst="roundRect">
            <a:avLst>
              <a:gd name="adj" fmla="val 7692"/>
            </a:avLst>
          </a:prstGeom>
          <a:solidFill>
            <a:srgbClr val="0F15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6576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XGBoost:  scale_pos_weight = 7963/2037 ≈ 3.9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4389120"/>
            <a:ext cx="5120640" cy="594360"/>
          </a:xfrm>
          <a:prstGeom prst="roundRect">
            <a:avLst>
              <a:gd name="adj" fmla="val 7692"/>
            </a:avLst>
          </a:prstGeom>
          <a:solidFill>
            <a:srgbClr val="0F153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43891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sklearn:  class_weight = 'balanced'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MODEL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Trained &amp; Compared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Class-1 (churn) performance across five candidate models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Tuned Random Forest Won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07108"/>
            <a:ext cx="512064" cy="512064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071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56" dirty="0"/>
          </a:p>
        </p:txBody>
      </p:sp>
      <p:sp>
        <p:nvSpPr>
          <p:cNvPr id="7" name="Text 5"/>
          <p:cNvSpPr/>
          <p:nvPr/>
        </p:nvSpPr>
        <p:spPr>
          <a:xfrm>
            <a:off x="1417320" y="186537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F1 Score (0.58)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balanced trade-off between precision and recall of any model tested.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173736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88" y="2007108"/>
            <a:ext cx="512064" cy="512064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0488" y="20071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56" dirty="0"/>
          </a:p>
        </p:txBody>
      </p:sp>
      <p:sp>
        <p:nvSpPr>
          <p:cNvPr id="12" name="Text 10"/>
          <p:cNvSpPr/>
          <p:nvPr/>
        </p:nvSpPr>
        <p:spPr>
          <a:xfrm>
            <a:off x="6858000" y="186537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recall (0.72)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58000" y="21945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most real churners — critical, since missing one is costlier than a false alarm.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378708"/>
            <a:ext cx="512064" cy="512064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3787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56" dirty="0"/>
          </a:p>
        </p:txBody>
      </p:sp>
      <p:sp>
        <p:nvSpPr>
          <p:cNvPr id="17" name="Text 15"/>
          <p:cNvSpPr/>
          <p:nvPr/>
        </p:nvSpPr>
        <p:spPr>
          <a:xfrm>
            <a:off x="1417320" y="323697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Reasonable precision (0.48)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are still meaningful enough to act on without overwhelming false positives.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310896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6190488" y="3378708"/>
            <a:ext cx="512064" cy="512064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33787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56" dirty="0"/>
          </a:p>
        </p:txBody>
      </p:sp>
      <p:sp>
        <p:nvSpPr>
          <p:cNvPr id="22" name="Text 20"/>
          <p:cNvSpPr/>
          <p:nvPr/>
        </p:nvSpPr>
        <p:spPr>
          <a:xfrm>
            <a:off x="6858000" y="323697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 at scale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58000" y="35661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naturally with SHAP for transparent, per-customer explanations.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With SHAP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ships with a SHAP explanation — which features pushed it toward churn or staying.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64592" cy="164592"/>
          </a:xfrm>
          <a:prstGeom prst="ellipse">
            <a:avLst/>
          </a:prstGeom>
          <a:solidFill>
            <a:srgbClr val="C24B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992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SHAP value → increases churn probability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20640" y="1783080"/>
            <a:ext cx="164592" cy="164592"/>
          </a:xfrm>
          <a:prstGeom prst="ellipse">
            <a:avLst/>
          </a:prstGeom>
          <a:solidFill>
            <a:srgbClr val="3FA66B"/>
          </a:solidFill>
          <a:ln/>
        </p:spPr>
      </p:sp>
      <p:sp>
        <p:nvSpPr>
          <p:cNvPr id="8" name="Text 6"/>
          <p:cNvSpPr/>
          <p:nvPr/>
        </p:nvSpPr>
        <p:spPr>
          <a:xfrm>
            <a:off x="5349240" y="170992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SHAP value → decreases churn probability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 high-risk customer (churn probability 0.77)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13632" y="2606040"/>
            <a:ext cx="0" cy="3017520"/>
          </a:xfrm>
          <a:prstGeom prst="line">
            <a:avLst/>
          </a:prstGeom>
          <a:noFill/>
          <a:ln w="12700">
            <a:solidFill>
              <a:srgbClr val="C7CE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13632" y="2798064"/>
            <a:ext cx="5067605" cy="274320"/>
          </a:xfrm>
          <a:prstGeom prst="rect">
            <a:avLst/>
          </a:prstGeom>
          <a:solidFill>
            <a:srgbClr val="C24B4B"/>
          </a:solidFill>
          <a:ln/>
        </p:spPr>
      </p:sp>
      <p:sp>
        <p:nvSpPr>
          <p:cNvPr id="13" name="Text 11"/>
          <p:cNvSpPr/>
          <p:nvPr/>
        </p:nvSpPr>
        <p:spPr>
          <a:xfrm>
            <a:off x="9072677" y="27432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+0.1630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active_member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13632" y="3364992"/>
            <a:ext cx="1803197" cy="274320"/>
          </a:xfrm>
          <a:prstGeom prst="rect">
            <a:avLst/>
          </a:prstGeom>
          <a:solidFill>
            <a:srgbClr val="C24B4B"/>
          </a:solidFill>
          <a:ln/>
        </p:spPr>
      </p:sp>
      <p:sp>
        <p:nvSpPr>
          <p:cNvPr id="16" name="Text 14"/>
          <p:cNvSpPr/>
          <p:nvPr/>
        </p:nvSpPr>
        <p:spPr>
          <a:xfrm>
            <a:off x="5808269" y="33101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+0.0580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87705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products_number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13632" y="3931920"/>
            <a:ext cx="1025957" cy="274320"/>
          </a:xfrm>
          <a:prstGeom prst="rect">
            <a:avLst/>
          </a:prstGeom>
          <a:solidFill>
            <a:srgbClr val="C24B4B"/>
          </a:solidFill>
          <a:ln/>
        </p:spPr>
      </p:sp>
      <p:sp>
        <p:nvSpPr>
          <p:cNvPr id="19" name="Text 17"/>
          <p:cNvSpPr/>
          <p:nvPr/>
        </p:nvSpPr>
        <p:spPr>
          <a:xfrm>
            <a:off x="5031029" y="387705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+0.0330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4439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13632" y="4498848"/>
            <a:ext cx="590702" cy="274320"/>
          </a:xfrm>
          <a:prstGeom prst="rect">
            <a:avLst/>
          </a:prstGeom>
          <a:solidFill>
            <a:srgbClr val="C24B4B"/>
          </a:solidFill>
          <a:ln/>
        </p:spPr>
      </p:sp>
      <p:sp>
        <p:nvSpPr>
          <p:cNvPr id="22" name="Text 20"/>
          <p:cNvSpPr/>
          <p:nvPr/>
        </p:nvSpPr>
        <p:spPr>
          <a:xfrm>
            <a:off x="4595774" y="444398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+0.0190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0109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1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credit_score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77056" y="5065776"/>
            <a:ext cx="36576" cy="274320"/>
          </a:xfrm>
          <a:prstGeom prst="rect">
            <a:avLst/>
          </a:prstGeom>
          <a:solidFill>
            <a:srgbClr val="3FA66B"/>
          </a:solidFill>
          <a:ln/>
        </p:spPr>
      </p:sp>
      <p:sp>
        <p:nvSpPr>
          <p:cNvPr id="25" name="Text 23"/>
          <p:cNvSpPr/>
          <p:nvPr/>
        </p:nvSpPr>
        <p:spPr>
          <a:xfrm>
            <a:off x="2871216" y="501091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-0.0001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806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inactivity are the biggest churn drivers — consistent with the EDA findings on Slide 5.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WIRED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148840"/>
            <a:ext cx="548640" cy="548640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162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feature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01_eda.ipynb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28803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19272" y="19202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302252" y="2148840"/>
            <a:ext cx="548640" cy="548640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225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3456432" y="2834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56432" y="3154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Random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Forest, saved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Joblib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0712" y="39319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random_forest_model.pkl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33872" y="28803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89904" y="19202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7072884" y="2148840"/>
            <a:ext cx="548640" cy="548640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72884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21" name="Text 19"/>
          <p:cNvSpPr/>
          <p:nvPr/>
        </p:nvSpPr>
        <p:spPr>
          <a:xfrm>
            <a:off x="6227064" y="2834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27064" y="3154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81344" y="39319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— Render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04504" y="28803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860536" y="19202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9843516" y="2148840"/>
            <a:ext cx="548640" cy="548640"/>
          </a:xfrm>
          <a:prstGeom prst="ellipse">
            <a:avLst/>
          </a:prstGeom>
          <a:solidFill>
            <a:srgbClr val="D4A64A"/>
          </a:solidFill>
          <a:ln w="25400">
            <a:solidFill>
              <a:srgbClr val="D4A6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43516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8997696" y="2834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997696" y="3154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bank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951976" y="39319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— Vercel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layout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0292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0F1530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12064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D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bank-churn-mlops/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D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data/Churn_Modelling.csv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D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notebooks/01_eda.ipynb        # EDA, feature engineering, model training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D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api/main.py + index.html      # FastAPI backend + frontend UI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D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models/random_forest_model.pkl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D1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requirements.txt, README.md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ln w="15875">
            <a:solidFill>
              <a:srgbClr val="2630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23060" y="-1623060"/>
            <a:ext cx="4343400" cy="4343400"/>
          </a:xfrm>
          <a:prstGeom prst="ellipse">
            <a:avLst/>
          </a:prstGeom>
          <a:ln w="15875">
            <a:solidFill>
              <a:srgbClr val="263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148840" y="-2148840"/>
            <a:ext cx="5394960" cy="5394960"/>
          </a:xfrm>
          <a:prstGeom prst="ellipse">
            <a:avLst/>
          </a:prstGeom>
          <a:ln w="15875">
            <a:solidFill>
              <a:srgbClr val="263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674620" y="-2674620"/>
            <a:ext cx="6446520" cy="6446520"/>
          </a:xfrm>
          <a:prstGeom prst="ellipse">
            <a:avLst/>
          </a:prstGeom>
          <a:ln w="15875">
            <a:solidFill>
              <a:srgbClr val="D4A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decision a banker can trust 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1792" y="2788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Predict. Explain. Deploy.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109728" cy="109728"/>
          </a:xfrm>
          <a:prstGeom prst="ellipse">
            <a:avLst/>
          </a:prstGeom>
          <a:solidFill>
            <a:srgbClr val="D4A64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23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bank-churn-mlops-eta.vercel.app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109728" cy="109728"/>
          </a:xfrm>
          <a:prstGeom prst="ellipse">
            <a:avLst/>
          </a:prstGeom>
          <a:solidFill>
            <a:srgbClr val="D4A6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262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 — available via FastAPI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9728" cy="109728"/>
          </a:xfrm>
          <a:prstGeom prst="ellipse">
            <a:avLst/>
          </a:prstGeom>
          <a:solidFill>
            <a:srgbClr val="D4A64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0292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— github.com/aarushixsingh/bank-churn-MLOPS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2026-08-18T05:58:51Z</dcterms:created>
  <dcterms:modified xsi:type="dcterms:W3CDTF">2026-08-18T05:58:51Z</dcterms:modified>
</cp:coreProperties>
</file>